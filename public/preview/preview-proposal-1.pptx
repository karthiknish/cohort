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focus on high-intent channels to drive leads efficiently. This plan aligns with your budget and timeline, delivering measurable results from day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current challenges stem from limited visibility. Our strategy builds brand presence across key channels, directly addressing these gaps.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audience values time-saving solutions. We will reach them on LinkedIn and Google with content that highlights efficiency gains.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pillar reinforces the others. Paid media drives immediate leads, while SEO and email build long-term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phased approach ensures quick activation while building for long-term growth. We prioritise high-impact actions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and LinkedIn are proven for B2B SaaS. Meta supports retargeting to maximise conversions from existing traffic.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audience insights to craft messaging that resonates. Regular testing refines creative for higher click-through and conversion rates.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don't set and forget. Regular reviews of campaign data allow us to reallocate budget to top performers.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provide clear, actionable reports. Weekly dashboards show progress, and monthly reviews focus on strategic adjustments.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understand the B2B SaaS landscape. Our team has a proven track record of reducing cost per lead and increasing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identify underperforming campaigns early and shift budget to top performers. This minimises waste and maximises ROI.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need access to your ad accounts and analytics within 1 week. Our team will then launch campaigns within 2 weeks of start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1D4ED8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615" y="457200"/>
            <a:ext cx="228600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NOVATECH SOLUTIONS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Marketing Proposal</a:t>
            </a:r>
            <a:endParaRPr lang="en-US" sz="4800" dirty="0"/>
          </a:p>
        </p:txBody>
      </p:sp>
      <p:sp>
        <p:nvSpPr>
          <p:cNvPr id="8" name="Shape 5"/>
          <p:cNvSpPr/>
          <p:nvPr/>
        </p:nvSpPr>
        <p:spPr>
          <a:xfrm>
            <a:off x="822960" y="310896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383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 |  Lead generation, Sales, Brand awareness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PPC (Google Ads), Paid Social (Meta/TikTok/LinkedIn), SEO &amp; Content Marketing, Email Marketing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6309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 Cohorts  |  1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78992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73152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54480" y="1463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&amp; Market Overview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1920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summary, company background, and market analysis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926080"/>
            <a:ext cx="73152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632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554480" y="3063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 &amp; Approach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5204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marketing strategy, target audience, and campaign structure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325880"/>
            <a:ext cx="73152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463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223760" y="1463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of Services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23760" y="1920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breakdown of services and deliverables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292608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926080"/>
            <a:ext cx="73152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0632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223760" y="3063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&amp; ROI Projections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23760" y="35204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Investment breakdown and projected return on investment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NovaTech Solutions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01200" y="6492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0EA5E9">
                    <a:alpha val="80000"/>
                  </a:srgbClr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Company &amp; Market Overview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663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summary, company background, and market analysis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22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NovaTech Solutions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will generate 150 qualified leads in 90 days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78992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704088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43000"/>
            <a:ext cx="73152" cy="5257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371600"/>
            <a:ext cx="20421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71600"/>
            <a:ext cx="20421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508760"/>
            <a:ext cx="1859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14400" y="2176272"/>
            <a:ext cx="1859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Qualified leads in 90 days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48000" y="1371600"/>
            <a:ext cx="20421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48000" y="1371600"/>
            <a:ext cx="20421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3139440" y="1508760"/>
            <a:ext cx="1859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£67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139440" y="2176272"/>
            <a:ext cx="1859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cost per lead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73040" y="1371600"/>
            <a:ext cx="20421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73040" y="1371600"/>
            <a:ext cx="20421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364480" y="1508760"/>
            <a:ext cx="1859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364480" y="2176272"/>
            <a:ext cx="1859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Month-over-month lead growth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017520"/>
            <a:ext cx="6492240" cy="2971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 PPC campaigns targeting high-intent keywords within 2 weeks.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LinkedIn lead gen ads to reach B2B marketing managers.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Optimise landing pages for a 15% conversion rate improvement.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5669280"/>
            <a:ext cx="6492240" cy="640080"/>
          </a:xfrm>
          <a:prstGeom prst="roundRect">
            <a:avLst>
              <a:gd name="adj" fmla="val 8571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66928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5742432"/>
            <a:ext cx="6126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integrated strategy targets a 40% reduction in cost per lead.</a:t>
            </a:r>
            <a:endParaRPr lang="en-US" sz="1300" dirty="0"/>
          </a:p>
        </p:txBody>
      </p:sp>
      <p:pic>
        <p:nvPicPr>
          <p:cNvPr id="24" name="Image 0" descr="&quot;business growth chart&quot;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1051560"/>
            <a:ext cx="4327855" cy="544068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NovaTech Solutions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601200" y="6492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brand awareness is costing you 60% of potential leads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78992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704088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43000"/>
            <a:ext cx="73152" cy="5257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371600"/>
            <a:ext cx="3108960" cy="443484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71600"/>
            <a:ext cx="3108960" cy="411480"/>
          </a:xfrm>
          <a:prstGeom prst="rect">
            <a:avLst>
              <a:gd name="adj" fmla="val 13333"/>
            </a:avLst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920240"/>
            <a:ext cx="2697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brand awareness limits reach to 20% of target market.</a:t>
            </a:r>
            <a:endParaRPr lang="en-US" sz="1200" dirty="0"/>
          </a:p>
          <a:p>
            <a:pPr marL="203200" indent="-2032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cost per lead of £112 due to inefficient targeting.</a:t>
            </a:r>
            <a:endParaRPr lang="en-US" sz="1200" dirty="0"/>
          </a:p>
          <a:p>
            <a:pPr marL="203200" indent="-2032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lead volume of 50 per month from current channels.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1371600"/>
            <a:ext cx="3108960" cy="443484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371600"/>
            <a:ext cx="3108960" cy="411480"/>
          </a:xfrm>
          <a:prstGeom prst="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State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4840" y="1920240"/>
            <a:ext cx="2697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Increase brand awareness to 50% of target market within 6 months.</a:t>
            </a:r>
            <a:endParaRPr lang="en-US" sz="1200" dirty="0"/>
          </a:p>
          <a:p>
            <a:pPr marL="203200" indent="-2032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 cost per lead to £67 through refined targeting.</a:t>
            </a:r>
            <a:endParaRPr lang="en-US" sz="1200" dirty="0"/>
          </a:p>
          <a:p>
            <a:pPr marL="203200" indent="-2032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150 qualified leads per month by month 3.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6492240" cy="640080"/>
          </a:xfrm>
          <a:prstGeom prst="roundRect">
            <a:avLst>
              <a:gd name="adj" fmla="val 8571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66928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5742432"/>
            <a:ext cx="6126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Closing the awareness gap unlocks a 3x increase in lead volume.</a:t>
            </a:r>
            <a:endParaRPr lang="en-US" sz="1300" dirty="0"/>
          </a:p>
        </p:txBody>
      </p:sp>
      <p:pic>
        <p:nvPicPr>
          <p:cNvPr id="19" name="Image 0" descr="&quot;brand awareness gap&quot;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1051560"/>
            <a:ext cx="4327855" cy="544068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NovaTech Solutions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601200" y="6492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Marketing managers at 50-200 employee firms seek efficiency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78992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704088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43000"/>
            <a:ext cx="73152" cy="5257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371600"/>
            <a:ext cx="20421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71600"/>
            <a:ext cx="20421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508760"/>
            <a:ext cx="1859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14400" y="2176272"/>
            <a:ext cx="1859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Prefer LinkedIn for B2B research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48000" y="1371600"/>
            <a:ext cx="20421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48000" y="1371600"/>
            <a:ext cx="20421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3139440" y="1508760"/>
            <a:ext cx="1859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139440" y="2176272"/>
            <a:ext cx="1859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decision-makers per deal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73040" y="1371600"/>
            <a:ext cx="20421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73040" y="1371600"/>
            <a:ext cx="20421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364480" y="1508760"/>
            <a:ext cx="1859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364480" y="2176272"/>
            <a:ext cx="1859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Google for initial vendor search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017520"/>
            <a:ext cx="6492240" cy="2971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Persona: Marketing Manager, aged 30-45, focused on lead quality and ROI.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 preference: LinkedIn for thought leadership, Google for solution searches.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5669280"/>
            <a:ext cx="6492240" cy="640080"/>
          </a:xfrm>
          <a:prstGeom prst="roundRect">
            <a:avLst>
              <a:gd name="adj" fmla="val 8571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66928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5742432"/>
            <a:ext cx="6126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Targeting these managers requires a multi-channel approach with clear ROI.</a:t>
            </a:r>
            <a:endParaRPr lang="en-US" sz="1300" dirty="0"/>
          </a:p>
        </p:txBody>
      </p:sp>
      <p:pic>
        <p:nvPicPr>
          <p:cNvPr id="24" name="Image 0" descr="&quot;target audience personas&quot;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1051560"/>
            <a:ext cx="4327855" cy="544068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NovaTech Solutions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601200" y="6492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0EA5E9">
                    <a:alpha val="80000"/>
                  </a:srgbClr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Strategy &amp; Approach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663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marketing strategy, target audience, and campaign structure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22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NovaTech Solutions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Three-pillar strategy drives leads, sales, and awareness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78992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704088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43000"/>
            <a:ext cx="73152" cy="5257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371600"/>
            <a:ext cx="6492240" cy="4617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Pillar 1: Paid media generates 100 leads monthly via Google and LinkedIn ads.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Pillar 2: SEO and content marketing builds organic traffic by 50% in 6 months.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Pillar 3: Email marketing nurtures leads to a 20% conversion rate.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Allocate 50% of budget to PPC and paid social for quick wins.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 30% in SEO and content for sustainable growth.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20% for email marketing and CRO to optimise conversions.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5669280"/>
            <a:ext cx="6492240" cy="640080"/>
          </a:xfrm>
          <a:prstGeom prst="roundRect">
            <a:avLst>
              <a:gd name="adj" fmla="val 8571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566928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5742432"/>
            <a:ext cx="6126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integrated approach maximises your £10,000 monthly budget.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63840" y="1143000"/>
            <a:ext cx="3749040" cy="52578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1143000"/>
            <a:ext cx="73152" cy="5257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38160" y="1874520"/>
            <a:ext cx="32918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data-driven approach ensures every decision is backed by insights, not assumptions.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NovaTech Solutions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0" y="6492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D4ED8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roadmap delivers results within 4 weeks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78992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7772400" cy="5074920"/>
          </a:xfrm>
          <a:prstGeom prst="roundRect">
            <a:avLst>
              <a:gd name="adj" fmla="val 144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(Weeks 1-2): Audit current accounts, set up analytics, and launch initial PPC campaigns.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 (Weeks 3-4): Deploy LinkedIn and Meta ads, begin SEO keyword research.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 (Weeks 5-8): Launch content marketing, start email sequences, and optimise landing pages.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 (Weeks 9-12): Full optimisation cycle, first performance review, and scaling.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1: Analytics setup and account audit completed.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4: All paid channels live and tracking.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12: First full optimisation review.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5577840"/>
            <a:ext cx="7315200" cy="594360"/>
          </a:xfrm>
          <a:prstGeom prst="roundRect">
            <a:avLst>
              <a:gd name="adj" fmla="val 9231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577840"/>
            <a:ext cx="54864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5650992"/>
            <a:ext cx="69494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will have campaigns live within 2 weeks of start date.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NovaTech Solutions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0" y="6492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and LinkedIn will drive 80% of new leads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78992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4114800" cy="5257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43000"/>
            <a:ext cx="73152" cy="5257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143000"/>
            <a:ext cx="6705295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143000"/>
            <a:ext cx="73152" cy="5257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1371600"/>
            <a:ext cx="6156655" cy="4617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 1: Google Ads targeting high-intent keywords for a 5% conversion rate.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 2: LinkedIn Ads reaching marketing managers with a 2% click-through rate.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 3: Meta Ads retargeting website visitors for a 10% conversion rate.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Ads budget: £4,000 per month for search and display.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 Ads budget: £3,000 per month for lead gen and retargeting.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 Ads budget: £1,000 per month for retargeting.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12080" y="5577840"/>
            <a:ext cx="6156655" cy="640080"/>
          </a:xfrm>
          <a:prstGeom prst="roundRect">
            <a:avLst>
              <a:gd name="adj" fmla="val 8571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557784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5650992"/>
            <a:ext cx="5790895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channel mix balances immediate lead generation with brand building.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NovaTech Solutions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0" y="6492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Data-driven creative and content will boost engagement by 30%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78992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704088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43000"/>
            <a:ext cx="73152" cy="5257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371600"/>
            <a:ext cx="6492240" cy="4617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Creative approach: A/B test 4 ad variants weekly, focusing on pain points and ROI.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strategy: Publish 2 blog posts and 1 case study per month for SEO.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framework: Run 3 landing page variants per campaign to find top performers.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 copy highlights time savings and lead quality improvements.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Blog posts target long-tail keywords with 1,500+ words each.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pages include clear CTAs and social proof.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5669280"/>
            <a:ext cx="6492240" cy="640080"/>
          </a:xfrm>
          <a:prstGeom prst="roundRect">
            <a:avLst>
              <a:gd name="adj" fmla="val 8571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566928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5742432"/>
            <a:ext cx="6126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testing methodology ensures continuous improvement in ad performance.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63840" y="1143000"/>
            <a:ext cx="3749040" cy="52578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1143000"/>
            <a:ext cx="73152" cy="5257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38160" y="1874520"/>
            <a:ext cx="32918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data-driven approach ensures every decision is backed by insights, not assumptions.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NovaTech Solutions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0" y="6492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optimisation will reduce cost per lead by 40%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78992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704088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43000"/>
            <a:ext cx="73152" cy="5257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371600"/>
            <a:ext cx="3108960" cy="443484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71600"/>
            <a:ext cx="3108960" cy="411480"/>
          </a:xfrm>
          <a:prstGeom prst="rect">
            <a:avLst>
              <a:gd name="adj" fmla="val 13333"/>
            </a:avLst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920240"/>
            <a:ext cx="2697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cost per lead of £112 with no systematic testing.</a:t>
            </a:r>
            <a:endParaRPr lang="en-US" sz="1200" dirty="0"/>
          </a:p>
          <a:p>
            <a:pPr marL="203200" indent="-2032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page conversion rate of 2% due to poor design.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1371600"/>
            <a:ext cx="3108960" cy="443484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371600"/>
            <a:ext cx="3108960" cy="411480"/>
          </a:xfrm>
          <a:prstGeom prst="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State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4840" y="1920240"/>
            <a:ext cx="2697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bid adjustments and ad copy testing to lower cost per lead.</a:t>
            </a:r>
            <a:endParaRPr lang="en-US" sz="1200" dirty="0"/>
          </a:p>
          <a:p>
            <a:pPr marL="203200" indent="-2032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CRO audits to improve landing page conversion to 3.5%.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6492240" cy="640080"/>
          </a:xfrm>
          <a:prstGeom prst="roundRect">
            <a:avLst>
              <a:gd name="adj" fmla="val 8571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66928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5742432"/>
            <a:ext cx="6126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optimisation process targets a 40% reduction in cost per lead within 3 months.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63840" y="1143000"/>
            <a:ext cx="3749040" cy="52578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0" y="1143000"/>
            <a:ext cx="73152" cy="5257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38160" y="1920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38160" y="21945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£10,000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38160" y="40462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Engagement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38160" y="43205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Ongoing monthly support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NovaTech Solutions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01200" y="6492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 reporting with weekly dashboards and monthly reviews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78992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704088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43000"/>
            <a:ext cx="73152" cy="5257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371600"/>
            <a:ext cx="20421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71600"/>
            <a:ext cx="20421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508760"/>
            <a:ext cx="1859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Weekly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14400" y="2176272"/>
            <a:ext cx="1859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cadence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48000" y="1371600"/>
            <a:ext cx="20421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48000" y="1371600"/>
            <a:ext cx="20421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3139440" y="1508760"/>
            <a:ext cx="1859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139440" y="2176272"/>
            <a:ext cx="1859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KPIs tracked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73040" y="1371600"/>
            <a:ext cx="20421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73040" y="1371600"/>
            <a:ext cx="20421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364480" y="1508760"/>
            <a:ext cx="1859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Month 1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364480" y="2176272"/>
            <a:ext cx="1859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review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017520"/>
            <a:ext cx="6492240" cy="2971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framework: Cost per lead, conversion rate, click-through rate, and lead volume.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dashboard: Live access via Google Data Studio with custom views.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5669280"/>
            <a:ext cx="6492240" cy="640080"/>
          </a:xfrm>
          <a:prstGeom prst="roundRect">
            <a:avLst>
              <a:gd name="adj" fmla="val 8571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66928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5742432"/>
            <a:ext cx="6126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will have real-time access to all campaign performance data.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63840" y="1143000"/>
            <a:ext cx="3749040" cy="52578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0" y="1143000"/>
            <a:ext cx="73152" cy="5257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38160" y="1874520"/>
            <a:ext cx="32918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data-driven approach ensures every decision is backed by insights, not assumptions.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NovaTech Solutions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01200" y="6492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team with 5+ years of B2B SaaS experience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78992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704088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43000"/>
            <a:ext cx="73152" cy="5257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371600"/>
            <a:ext cx="6492240" cy="4617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structure: Account manager, PPC specialist, SEO strategist, and content writer.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Relevant experience: Managed £50,000+ monthly budgets for B2B SaaS clients.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Communication: Weekly status calls and monthly strategy meetings.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manager serves as your single point of contact.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PPC specialist has 7 years of Google Ads experience.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SEO strategist has driven 3x organic traffic growth for past clients.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5669280"/>
            <a:ext cx="6492240" cy="640080"/>
          </a:xfrm>
          <a:prstGeom prst="roundRect">
            <a:avLst>
              <a:gd name="adj" fmla="val 8571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566928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5742432"/>
            <a:ext cx="6126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team has delivered 200+ leads per month for similar SaaS clients.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63840" y="1143000"/>
            <a:ext cx="3749040" cy="52578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1143000"/>
            <a:ext cx="73152" cy="5257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38160" y="1874520"/>
            <a:ext cx="32918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data-driven approach ensures every decision is backed by insights, not assumptions.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NovaTech Solutions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0" y="6492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mitigation ensures consistent performance and budget efficiency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78992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704088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43000"/>
            <a:ext cx="73152" cy="5257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371600"/>
            <a:ext cx="3108960" cy="443484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71600"/>
            <a:ext cx="3108960" cy="411480"/>
          </a:xfrm>
          <a:prstGeom prst="rect">
            <a:avLst>
              <a:gd name="adj" fmla="val 13333"/>
            </a:avLst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920240"/>
            <a:ext cx="2697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risk: Budget wasted on underperforming channels without oversight.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1371600"/>
            <a:ext cx="3108960" cy="443484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371600"/>
            <a:ext cx="3108960" cy="411480"/>
          </a:xfrm>
          <a:prstGeom prst="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State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4840" y="1920240"/>
            <a:ext cx="2697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mitigation: Weekly budget reallocation based on real-time performance data.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6492240" cy="640080"/>
          </a:xfrm>
          <a:prstGeom prst="roundRect">
            <a:avLst>
              <a:gd name="adj" fmla="val 8571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66928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5742432"/>
            <a:ext cx="6126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proactively manage risks to protect your budget and timeline.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63840" y="1143000"/>
            <a:ext cx="3749040" cy="52578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0" y="1143000"/>
            <a:ext cx="73152" cy="5257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38160" y="1920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38160" y="21945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£10,000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38160" y="40462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Engagement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38160" y="43205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Ongoing monthly support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NovaTech Solutions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01200" y="6492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within 2 weeks and see first results in 30 days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78992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16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704088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43000"/>
            <a:ext cx="73152" cy="5257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371600"/>
            <a:ext cx="20421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71600"/>
            <a:ext cx="20421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508760"/>
            <a:ext cx="1859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weeks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14400" y="2176272"/>
            <a:ext cx="1859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to launch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48000" y="1371600"/>
            <a:ext cx="20421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48000" y="1371600"/>
            <a:ext cx="20421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3139440" y="1508760"/>
            <a:ext cx="1859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30 days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139440" y="2176272"/>
            <a:ext cx="1859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results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73040" y="1371600"/>
            <a:ext cx="20421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73040" y="1371600"/>
            <a:ext cx="20421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364480" y="1508760"/>
            <a:ext cx="1859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90 days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364480" y="2176272"/>
            <a:ext cx="1859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optimisation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017520"/>
            <a:ext cx="6492240" cy="2971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proposal and provide account access by [date].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kickoff call within 3 business days.</a:t>
            </a:r>
            <a:endParaRPr lang="en-US" sz="1500" dirty="0"/>
          </a:p>
          <a:p>
            <a:pPr algn="l" marL="254000" indent="-254000">
              <a:lnSpc>
                <a:spcPct val="135000"/>
              </a:lnSpc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initial ad copy and landing page designs within 1 week.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5669280"/>
            <a:ext cx="6492240" cy="640080"/>
          </a:xfrm>
          <a:prstGeom prst="roundRect">
            <a:avLst>
              <a:gd name="adj" fmla="val 8571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66928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5742432"/>
            <a:ext cx="6126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are ready to begin immediately and deliver early wins.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63840" y="1143000"/>
            <a:ext cx="3749040" cy="52578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0" y="1143000"/>
            <a:ext cx="73152" cy="5257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38160" y="1874520"/>
            <a:ext cx="32918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data-driven approach ensures every decision is backed by insights, not assumptions.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NovaTech Solutions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01200" y="6492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0EA5E9">
                    <a:alpha val="80000"/>
                  </a:srgbClr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Scope of Services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663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breakdown of services and deliverables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22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NovaTech Solutions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of Services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78992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18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5166360"/>
        </p:xfrm>
        <a:graphic>
          <a:graphicData uri="http://schemas.openxmlformats.org/drawingml/2006/table">
            <a:tbl>
              <a:tblPr/>
              <a:tblGrid>
                <a:gridCol w="3200400"/>
                <a:gridCol w="6062472"/>
                <a:gridCol w="1828800"/>
              </a:tblGrid>
              <a:tr h="10332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What's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Included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1033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PPC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(Google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Search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display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campaigns,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keyword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strategy,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management,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landing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optimisation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A5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Included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3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Paid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Social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(Meta/TikTok/LinkedIn)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Audience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targeting,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testing,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retargeting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funnels,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lookalike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audiences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A5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Included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1033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SEO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Content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Marketing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Technical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SEO,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calendar,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organic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growth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strategy,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link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A5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Included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3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Email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Marketing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Automation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flows,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segmentation,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lifecycle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campaigns,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A/B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A5E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Included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NovaTech Solutions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601200" y="6492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0EA5E9">
                    <a:alpha val="80000"/>
                  </a:srgbClr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Budget &amp; ROI Projections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663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Investment breakdown and projected return on investment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/ 22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NovaTech Solutions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Allocation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78992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</a:t>
            </a:r>
            <a:endParaRPr lang="en-US" sz="3000" dirty="0"/>
          </a:p>
        </p:txBody>
      </p:sp>
      <p:pic>
        <p:nvPicPr>
          <p:cNvPr id="6" name="Image 0" descr="Budget allocation by channel — horizontal bar cha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7132320" cy="5074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143000"/>
            <a:ext cx="3657600" cy="5257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955280" y="1143000"/>
            <a:ext cx="73152" cy="5257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1417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INVESTMENT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0" y="1691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£10,000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8229600" y="2468880"/>
            <a:ext cx="3108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2651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Ongoing monthly support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0" y="3383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TIMELINE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0" y="3611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Within 1 month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138160" y="521208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53492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PROJECTED ANNUAL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321040" y="5577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£120,000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NovaTech Solutions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601200" y="6492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Projected ROI (90-Day Outlook)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789920" y="137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21</a:t>
            </a:r>
            <a:endParaRPr lang="en-US" sz="3000" dirty="0"/>
          </a:p>
        </p:txBody>
      </p:sp>
      <p:pic>
        <p:nvPicPr>
          <p:cNvPr id="6" name="Image 0" descr="Projected leads per month — bar cha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5486400" cy="5074920"/>
          </a:xfrm>
          <a:prstGeom prst="rect">
            <a:avLst/>
          </a:prstGeom>
        </p:spPr>
      </p:pic>
      <p:pic>
        <p:nvPicPr>
          <p:cNvPr id="7" name="Image 1" descr="Cost per lead trend — line char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234440"/>
            <a:ext cx="5333695" cy="50749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5"/>
          <p:cNvSpPr/>
          <p:nvPr/>
        </p:nvSpPr>
        <p:spPr>
          <a:xfrm>
            <a:off x="548640" y="6492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NovaTech Solutions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9601200" y="6492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 Steps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394960" y="2377440"/>
            <a:ext cx="13716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build something great together.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15188" y="356616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D4ED8">
              <a:alpha val="9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75308" y="37490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1775308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2348" y="4389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this proposal and share feedback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12668" y="356616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D4ED8">
              <a:alpha val="9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72788" y="37490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4472788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49828" y="4389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a kickoff call to align on goals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0148" y="356616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D4ED8">
              <a:alpha val="9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0268" y="37490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7170268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47308" y="4389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scope and finalise engagement terms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07628" y="356616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D4ED8">
              <a:alpha val="9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67748" y="37490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9867748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44788" y="4389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 campaign within agreed timeline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6309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for NovaTech Solutions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Cohorts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Marketing Proposal</dc:subject>
  <dc:creator>Cohorts</dc:creator>
  <cp:lastModifiedBy>Cohorts</cp:lastModifiedBy>
  <cp:revision>1</cp:revision>
  <dcterms:created xsi:type="dcterms:W3CDTF">2026-07-01T10:20:24Z</dcterms:created>
  <dcterms:modified xsi:type="dcterms:W3CDTF">2026-07-01T10:20:24Z</dcterms:modified>
</cp:coreProperties>
</file>